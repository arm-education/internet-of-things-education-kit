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-5400000">
            <a:off x="7256575" y="3180284"/>
            <a:ext cx="209700" cy="3153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Arm processors vs. Arm architectures</a:t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771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Arm architecture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Describes the details of the instruction set, programmer’s model, exception model, and memory map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Documented in the Architecture Reference Manual</a:t>
            </a:r>
            <a:endParaRPr/>
          </a:p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832400" y="771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Arm processor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Developed using one of the Arm architectures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More implementation, such as timing and pipeline information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Documented in the processor’s Technical Reference Manual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41348" y="2999750"/>
            <a:ext cx="1203900" cy="163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Armv4/v4T</a:t>
            </a:r>
            <a:endParaRPr sz="1200"/>
          </a:p>
        </p:txBody>
      </p:sp>
      <p:sp>
        <p:nvSpPr>
          <p:cNvPr id="59" name="Google Shape;59;p13"/>
          <p:cNvSpPr/>
          <p:nvPr/>
        </p:nvSpPr>
        <p:spPr>
          <a:xfrm>
            <a:off x="1445248" y="2999750"/>
            <a:ext cx="1203900" cy="163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Armv5/v4E</a:t>
            </a:r>
            <a:endParaRPr sz="1200"/>
          </a:p>
        </p:txBody>
      </p:sp>
      <p:sp>
        <p:nvSpPr>
          <p:cNvPr id="60" name="Google Shape;60;p13"/>
          <p:cNvSpPr/>
          <p:nvPr/>
        </p:nvSpPr>
        <p:spPr>
          <a:xfrm>
            <a:off x="2649148" y="2999750"/>
            <a:ext cx="1203900" cy="163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Armv6</a:t>
            </a:r>
            <a:endParaRPr sz="1200"/>
          </a:p>
        </p:txBody>
      </p:sp>
      <p:sp>
        <p:nvSpPr>
          <p:cNvPr id="61" name="Google Shape;61;p13"/>
          <p:cNvSpPr/>
          <p:nvPr/>
        </p:nvSpPr>
        <p:spPr>
          <a:xfrm>
            <a:off x="3853050" y="2999750"/>
            <a:ext cx="1923600" cy="163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Armv7</a:t>
            </a:r>
            <a:endParaRPr sz="1200"/>
          </a:p>
        </p:txBody>
      </p:sp>
      <p:sp>
        <p:nvSpPr>
          <p:cNvPr id="62" name="Google Shape;62;p13"/>
          <p:cNvSpPr/>
          <p:nvPr/>
        </p:nvSpPr>
        <p:spPr>
          <a:xfrm>
            <a:off x="5776675" y="2999750"/>
            <a:ext cx="1388400" cy="163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Armv8</a:t>
            </a:r>
            <a:endParaRPr sz="1200"/>
          </a:p>
        </p:txBody>
      </p:sp>
      <p:sp>
        <p:nvSpPr>
          <p:cNvPr id="63" name="Google Shape;63;p13"/>
          <p:cNvSpPr/>
          <p:nvPr/>
        </p:nvSpPr>
        <p:spPr>
          <a:xfrm>
            <a:off x="7165048" y="2999750"/>
            <a:ext cx="1773300" cy="163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Armv9</a:t>
            </a:r>
            <a:endParaRPr sz="1200"/>
          </a:p>
        </p:txBody>
      </p:sp>
      <p:sp>
        <p:nvSpPr>
          <p:cNvPr id="64" name="Google Shape;64;p13"/>
          <p:cNvSpPr/>
          <p:nvPr/>
        </p:nvSpPr>
        <p:spPr>
          <a:xfrm>
            <a:off x="343050" y="4305175"/>
            <a:ext cx="10005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Arm7TDMI</a:t>
            </a:r>
            <a:endParaRPr sz="900"/>
          </a:p>
        </p:txBody>
      </p:sp>
      <p:sp>
        <p:nvSpPr>
          <p:cNvPr id="65" name="Google Shape;65;p13"/>
          <p:cNvSpPr/>
          <p:nvPr/>
        </p:nvSpPr>
        <p:spPr>
          <a:xfrm>
            <a:off x="1546950" y="4305175"/>
            <a:ext cx="10005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Arm9926EJ-S</a:t>
            </a:r>
            <a:endParaRPr sz="900"/>
          </a:p>
        </p:txBody>
      </p:sp>
      <p:sp>
        <p:nvSpPr>
          <p:cNvPr id="66" name="Google Shape;66;p13"/>
          <p:cNvSpPr/>
          <p:nvPr/>
        </p:nvSpPr>
        <p:spPr>
          <a:xfrm>
            <a:off x="2750841" y="4000375"/>
            <a:ext cx="10005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Armv6-M</a:t>
            </a:r>
            <a:endParaRPr sz="900"/>
          </a:p>
        </p:txBody>
      </p:sp>
      <p:sp>
        <p:nvSpPr>
          <p:cNvPr id="67" name="Google Shape;67;p13"/>
          <p:cNvSpPr/>
          <p:nvPr/>
        </p:nvSpPr>
        <p:spPr>
          <a:xfrm>
            <a:off x="2750841" y="4305175"/>
            <a:ext cx="1000500" cy="24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Cortex-M0/M1</a:t>
            </a:r>
            <a:endParaRPr sz="900"/>
          </a:p>
        </p:txBody>
      </p:sp>
      <p:sp>
        <p:nvSpPr>
          <p:cNvPr id="68" name="Google Shape;68;p13"/>
          <p:cNvSpPr/>
          <p:nvPr/>
        </p:nvSpPr>
        <p:spPr>
          <a:xfrm>
            <a:off x="4822500" y="4000375"/>
            <a:ext cx="7788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Armv7-M</a:t>
            </a:r>
            <a:endParaRPr sz="900"/>
          </a:p>
        </p:txBody>
      </p:sp>
      <p:sp>
        <p:nvSpPr>
          <p:cNvPr id="69" name="Google Shape;69;p13"/>
          <p:cNvSpPr/>
          <p:nvPr/>
        </p:nvSpPr>
        <p:spPr>
          <a:xfrm>
            <a:off x="4822500" y="4305175"/>
            <a:ext cx="778800" cy="24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Cortex-M4</a:t>
            </a:r>
            <a:endParaRPr sz="900"/>
          </a:p>
        </p:txBody>
      </p:sp>
      <p:sp>
        <p:nvSpPr>
          <p:cNvPr id="70" name="Google Shape;70;p13"/>
          <p:cNvSpPr/>
          <p:nvPr/>
        </p:nvSpPr>
        <p:spPr>
          <a:xfrm>
            <a:off x="4843763" y="3355450"/>
            <a:ext cx="7788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Armv7-R</a:t>
            </a:r>
            <a:endParaRPr sz="900"/>
          </a:p>
        </p:txBody>
      </p:sp>
      <p:sp>
        <p:nvSpPr>
          <p:cNvPr id="71" name="Google Shape;71;p13"/>
          <p:cNvSpPr/>
          <p:nvPr/>
        </p:nvSpPr>
        <p:spPr>
          <a:xfrm>
            <a:off x="4843763" y="3660250"/>
            <a:ext cx="778800" cy="24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Cortex-R4</a:t>
            </a:r>
            <a:endParaRPr sz="900"/>
          </a:p>
        </p:txBody>
      </p:sp>
      <p:sp>
        <p:nvSpPr>
          <p:cNvPr id="72" name="Google Shape;72;p13"/>
          <p:cNvSpPr/>
          <p:nvPr/>
        </p:nvSpPr>
        <p:spPr>
          <a:xfrm>
            <a:off x="3902463" y="3597850"/>
            <a:ext cx="7788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Armv7-A</a:t>
            </a:r>
            <a:endParaRPr sz="900"/>
          </a:p>
        </p:txBody>
      </p:sp>
      <p:sp>
        <p:nvSpPr>
          <p:cNvPr id="73" name="Google Shape;73;p13"/>
          <p:cNvSpPr/>
          <p:nvPr/>
        </p:nvSpPr>
        <p:spPr>
          <a:xfrm>
            <a:off x="3902463" y="3902650"/>
            <a:ext cx="778800" cy="24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Cortex-A9</a:t>
            </a:r>
            <a:endParaRPr sz="900"/>
          </a:p>
        </p:txBody>
      </p:sp>
      <p:cxnSp>
        <p:nvCxnSpPr>
          <p:cNvPr id="74" name="Google Shape;74;p13"/>
          <p:cNvCxnSpPr/>
          <p:nvPr/>
        </p:nvCxnSpPr>
        <p:spPr>
          <a:xfrm>
            <a:off x="273600" y="2861375"/>
            <a:ext cx="8528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" name="Google Shape;75;p13"/>
          <p:cNvSpPr/>
          <p:nvPr/>
        </p:nvSpPr>
        <p:spPr>
          <a:xfrm>
            <a:off x="5969163" y="3355450"/>
            <a:ext cx="8493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Armv8-A</a:t>
            </a:r>
            <a:endParaRPr sz="900"/>
          </a:p>
        </p:txBody>
      </p:sp>
      <p:sp>
        <p:nvSpPr>
          <p:cNvPr id="76" name="Google Shape;76;p13"/>
          <p:cNvSpPr/>
          <p:nvPr/>
        </p:nvSpPr>
        <p:spPr>
          <a:xfrm>
            <a:off x="5969164" y="3660250"/>
            <a:ext cx="849300" cy="24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Cortex-A53</a:t>
            </a:r>
            <a:endParaRPr sz="900"/>
          </a:p>
        </p:txBody>
      </p:sp>
      <p:sp>
        <p:nvSpPr>
          <p:cNvPr id="77" name="Google Shape;77;p13"/>
          <p:cNvSpPr/>
          <p:nvPr/>
        </p:nvSpPr>
        <p:spPr>
          <a:xfrm>
            <a:off x="6207538" y="4000375"/>
            <a:ext cx="8493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Armv8-R</a:t>
            </a:r>
            <a:endParaRPr sz="900"/>
          </a:p>
        </p:txBody>
      </p:sp>
      <p:sp>
        <p:nvSpPr>
          <p:cNvPr id="78" name="Google Shape;78;p13"/>
          <p:cNvSpPr/>
          <p:nvPr/>
        </p:nvSpPr>
        <p:spPr>
          <a:xfrm>
            <a:off x="6207539" y="4305175"/>
            <a:ext cx="849300" cy="24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Cortex-A57</a:t>
            </a:r>
            <a:endParaRPr sz="900"/>
          </a:p>
        </p:txBody>
      </p:sp>
      <p:sp>
        <p:nvSpPr>
          <p:cNvPr id="79" name="Google Shape;79;p13"/>
          <p:cNvSpPr/>
          <p:nvPr/>
        </p:nvSpPr>
        <p:spPr>
          <a:xfrm>
            <a:off x="7581538" y="3543050"/>
            <a:ext cx="849300" cy="24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Armv9-A</a:t>
            </a:r>
            <a:endParaRPr sz="900"/>
          </a:p>
        </p:txBody>
      </p:sp>
      <p:sp>
        <p:nvSpPr>
          <p:cNvPr id="80" name="Google Shape;80;p13"/>
          <p:cNvSpPr/>
          <p:nvPr/>
        </p:nvSpPr>
        <p:spPr>
          <a:xfrm>
            <a:off x="7581539" y="3847850"/>
            <a:ext cx="849300" cy="24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Cortex-X2</a:t>
            </a:r>
            <a:endParaRPr sz="900"/>
          </a:p>
        </p:txBody>
      </p:sp>
      <p:sp>
        <p:nvSpPr>
          <p:cNvPr id="81" name="Google Shape;81;p13"/>
          <p:cNvSpPr/>
          <p:nvPr/>
        </p:nvSpPr>
        <p:spPr>
          <a:xfrm rot="-5400000">
            <a:off x="2904150" y="1989584"/>
            <a:ext cx="209700" cy="5535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241500" y="4807357"/>
            <a:ext cx="553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32-bit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5784450" y="4807357"/>
            <a:ext cx="315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64</a:t>
            </a:r>
            <a:r>
              <a:rPr lang="en-GB" sz="1000">
                <a:solidFill>
                  <a:schemeClr val="dk2"/>
                </a:solidFill>
              </a:rPr>
              <a:t>-bit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