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Source Code Pr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ourceCodePro-bold.fntdata"/><Relationship Id="rId25" Type="http://schemas.openxmlformats.org/officeDocument/2006/relationships/font" Target="fonts/SourceCodePro-regular.fntdata"/><Relationship Id="rId28" Type="http://schemas.openxmlformats.org/officeDocument/2006/relationships/font" Target="fonts/SourceCodePro-boldItalic.fntdata"/><Relationship Id="rId27" Type="http://schemas.openxmlformats.org/officeDocument/2006/relationships/font" Target="fonts/SourceCodePr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4f7b07e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4f7b07e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4f7b07e8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4f7b07e8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4f7b07e8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4f7b07e8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4f7b07e8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4f7b07e8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4f7b07e8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4f7b07e8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4f7b07e8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4f7b07e8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4f7b07e8b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4f7b07e8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4f7b07e8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4f7b07e8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4f7b07e8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4f7b07e8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4f7b07e8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4f7b07e8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4f7b07e8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4f7b07e8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4f7b07e8b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4f7b07e8b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4f7b07e8b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e4f7b07e8b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50abb35d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50abb35d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4f7b07e8b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e4f7b07e8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4f7b07e8b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e4f7b07e8b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4f7b07e8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e4f7b07e8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4f7b07e8b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e4f7b07e8b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Keil Studio Pack for VS Code and CMSIS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Syllabus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module will cover the following: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CMSIS Overview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RTOS Support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VS Code CMSIS Integration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High-level vs. low-level coding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Quite a bit of content is based on the existing slides from Lecture 7, but with important corrections/updates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320"/>
              <a:t>Common Microcontroller Software Interface Standard (CMSIS)</a:t>
            </a:r>
            <a:endParaRPr sz="2120"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13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Vendor-independent hardware abstraction layer for Arm processors and microcontrollers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Provides a set of software components, tools, and workflows that encourages software reuse, and speeds up development/prototyping times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Improves software portability across different Arm processors and microcontrollers</a:t>
            </a:r>
            <a:endParaRPr sz="1400"/>
          </a:p>
        </p:txBody>
      </p:sp>
      <p:sp>
        <p:nvSpPr>
          <p:cNvPr id="73" name="Google Shape;73;p16"/>
          <p:cNvSpPr/>
          <p:nvPr/>
        </p:nvSpPr>
        <p:spPr>
          <a:xfrm>
            <a:off x="311700" y="2571750"/>
            <a:ext cx="3432300" cy="226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Low-level Programming</a:t>
            </a:r>
            <a:endParaRPr b="1"/>
          </a:p>
        </p:txBody>
      </p:sp>
      <p:sp>
        <p:nvSpPr>
          <p:cNvPr id="74" name="Google Shape;74;p16"/>
          <p:cNvSpPr/>
          <p:nvPr/>
        </p:nvSpPr>
        <p:spPr>
          <a:xfrm>
            <a:off x="5400000" y="2571750"/>
            <a:ext cx="3432300" cy="226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Higher-level Programming</a:t>
            </a:r>
            <a:endParaRPr b="1"/>
          </a:p>
        </p:txBody>
      </p:sp>
      <p:sp>
        <p:nvSpPr>
          <p:cNvPr id="75" name="Google Shape;75;p16"/>
          <p:cNvSpPr/>
          <p:nvPr/>
        </p:nvSpPr>
        <p:spPr>
          <a:xfrm>
            <a:off x="592950" y="2928840"/>
            <a:ext cx="2869800" cy="520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Configure a Cortex-M by directly accessing registers in address space</a:t>
            </a:r>
            <a:endParaRPr sz="1000"/>
          </a:p>
        </p:txBody>
      </p:sp>
      <p:sp>
        <p:nvSpPr>
          <p:cNvPr id="76" name="Google Shape;76;p16"/>
          <p:cNvSpPr/>
          <p:nvPr/>
        </p:nvSpPr>
        <p:spPr>
          <a:xfrm>
            <a:off x="840450" y="3914500"/>
            <a:ext cx="2374800" cy="8601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Arm Cortex-M Processor</a:t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434250" y="3546922"/>
            <a:ext cx="3187200" cy="270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Source Code Pro"/>
                <a:ea typeface="Source Code Pro"/>
                <a:cs typeface="Source Code Pro"/>
                <a:sym typeface="Source Code Pro"/>
              </a:rPr>
              <a:t>*(unsigned int *)NVIC_INT_ENABLE = 0x01;</a:t>
            </a:r>
            <a:endParaRPr sz="9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5681250" y="2928840"/>
            <a:ext cx="2869800" cy="520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Configure a Cortex-M by using CMSIS libraries and APIs</a:t>
            </a:r>
            <a:endParaRPr sz="1000"/>
          </a:p>
        </p:txBody>
      </p:sp>
      <p:sp>
        <p:nvSpPr>
          <p:cNvPr id="79" name="Google Shape;79;p16"/>
          <p:cNvSpPr/>
          <p:nvPr/>
        </p:nvSpPr>
        <p:spPr>
          <a:xfrm>
            <a:off x="5522550" y="3546922"/>
            <a:ext cx="3187200" cy="270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Source Code Pro"/>
                <a:ea typeface="Source Code Pro"/>
                <a:cs typeface="Source Code Pro"/>
                <a:sym typeface="Source Code Pro"/>
              </a:rPr>
              <a:t>NVIC_EnableIRQ(Timer_IRQn);</a:t>
            </a:r>
            <a:endParaRPr sz="9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5928750" y="3914500"/>
            <a:ext cx="2374800" cy="8601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Arm Cortex-M Processor</a:t>
            </a:r>
            <a:endParaRPr sz="1000"/>
          </a:p>
        </p:txBody>
      </p:sp>
      <p:sp>
        <p:nvSpPr>
          <p:cNvPr id="81" name="Google Shape;81;p16"/>
          <p:cNvSpPr/>
          <p:nvPr/>
        </p:nvSpPr>
        <p:spPr>
          <a:xfrm>
            <a:off x="6465900" y="4223550"/>
            <a:ext cx="1300500" cy="2076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Cortex-M0</a:t>
            </a:r>
            <a:endParaRPr sz="900"/>
          </a:p>
        </p:txBody>
      </p:sp>
      <p:sp>
        <p:nvSpPr>
          <p:cNvPr id="82" name="Google Shape;82;p16"/>
          <p:cNvSpPr/>
          <p:nvPr/>
        </p:nvSpPr>
        <p:spPr>
          <a:xfrm>
            <a:off x="6465900" y="4471930"/>
            <a:ext cx="1300500" cy="2076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Cortex-M4</a:t>
            </a:r>
            <a:endParaRPr sz="900"/>
          </a:p>
        </p:txBody>
      </p:sp>
      <p:sp>
        <p:nvSpPr>
          <p:cNvPr id="83" name="Google Shape;83;p16"/>
          <p:cNvSpPr/>
          <p:nvPr/>
        </p:nvSpPr>
        <p:spPr>
          <a:xfrm>
            <a:off x="4057200" y="3496350"/>
            <a:ext cx="1029600" cy="550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API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standardized by CMSIS?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Functions to access, e.g., NVIC, System Control Block (SCB), and System Tick timer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Enables an interrupt or exception: </a:t>
            </a:r>
            <a:r>
              <a:rPr lang="en-GB">
                <a:latin typeface="Source Code Pro"/>
                <a:ea typeface="Source Code Pro"/>
                <a:cs typeface="Source Code Pro"/>
                <a:sym typeface="Source Code Pro"/>
              </a:rPr>
              <a:t>void NVIC_EnableIRQ(IRQn_Type IRQn)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Sets pending status of interrupt: </a:t>
            </a:r>
            <a:r>
              <a:rPr lang="en-GB">
                <a:latin typeface="Source Code Pro"/>
                <a:ea typeface="Source Code Pro"/>
                <a:cs typeface="Source Code Pro"/>
                <a:sym typeface="Source Code Pro"/>
              </a:rPr>
              <a:t>void NVIC_SetPendingIRQ(IRQn_Type IRQn)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Access to special registers, e.g.: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Read PRIMASK register: </a:t>
            </a:r>
            <a:r>
              <a:rPr lang="en-GB">
                <a:latin typeface="Source Code Pro"/>
                <a:ea typeface="Source Code Pro"/>
                <a:cs typeface="Source Code Pro"/>
                <a:sym typeface="Source Code Pro"/>
              </a:rPr>
              <a:t>uint32_t __get_PRIMASK(void)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Set CONTROL register: </a:t>
            </a:r>
            <a:r>
              <a:rPr lang="en-GB">
                <a:latin typeface="Source Code Pro"/>
                <a:ea typeface="Source Code Pro"/>
                <a:cs typeface="Source Code Pro"/>
                <a:sym typeface="Source Code Pro"/>
              </a:rPr>
              <a:t>void __set_CONTROL(uint32_t value)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Functions to access special instructions, e.g.: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>
                <a:latin typeface="Source Code Pro"/>
                <a:ea typeface="Source Code Pro"/>
                <a:cs typeface="Source Code Pro"/>
                <a:sym typeface="Source Code Pro"/>
              </a:rPr>
              <a:t>REV</a:t>
            </a:r>
            <a:r>
              <a:rPr lang="en-GB"/>
              <a:t>:	</a:t>
            </a:r>
            <a:r>
              <a:rPr lang="en-GB">
                <a:latin typeface="Source Code Pro"/>
                <a:ea typeface="Source Code Pro"/>
                <a:cs typeface="Source Code Pro"/>
                <a:sym typeface="Source Code Pro"/>
              </a:rPr>
              <a:t>uint32_t __REV(uint32_t value)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>
                <a:latin typeface="Source Code Pro"/>
                <a:ea typeface="Source Code Pro"/>
                <a:cs typeface="Source Code Pro"/>
                <a:sym typeface="Source Code Pro"/>
              </a:rPr>
              <a:t>NOP</a:t>
            </a:r>
            <a:r>
              <a:rPr lang="en-GB"/>
              <a:t>: </a:t>
            </a:r>
            <a:r>
              <a:rPr lang="en-GB">
                <a:latin typeface="Source Code Pro"/>
                <a:ea typeface="Source Code Pro"/>
                <a:cs typeface="Source Code Pro"/>
                <a:sym typeface="Source Code Pro"/>
              </a:rPr>
              <a:t>void __NOP(void)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Names of system initialization functions, e.g.: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System initialization: </a:t>
            </a:r>
            <a:r>
              <a:rPr lang="en-GB">
                <a:latin typeface="Source Code Pro"/>
                <a:ea typeface="Source Code Pro"/>
                <a:cs typeface="Source Code Pro"/>
                <a:sym typeface="Source Code Pro"/>
              </a:rPr>
              <a:t>void SystemInit(void)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Benefits of CMSIS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Easier to port application code from one Arm-based processor/microcontroller to another Arm based processor/microcontroller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Easier to reuse the same code between different Arm-based processors/microcontrollers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Better compatibility when integrating third-party software components, since all third-party components (such as applications, embedded OS, middleware, etc) can share the same CMSIS interface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AutoNum type="arabicPeriod"/>
            </a:pPr>
            <a:r>
              <a:rPr lang="en-GB"/>
              <a:t>Better code density and smaller memory footprint, since the code in CMSIS has been optimized and tested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CMSIS Components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370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CMSIS comprises the following components:</a:t>
            </a:r>
            <a:endParaRPr/>
          </a:p>
          <a:p>
            <a:pPr indent="-2914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-GB"/>
              <a:t>CMSIS-Core:</a:t>
            </a:r>
            <a:r>
              <a:rPr lang="en-GB"/>
              <a:t> Implements a basic run-time system</a:t>
            </a:r>
            <a:endParaRPr/>
          </a:p>
          <a:p>
            <a:pPr indent="-291465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b="1" lang="en-GB"/>
              <a:t>CMSIS-RTOS2:</a:t>
            </a:r>
            <a:r>
              <a:rPr lang="en-GB"/>
              <a:t> API that enables consistent software layers for real-time processing</a:t>
            </a:r>
            <a:endParaRPr/>
          </a:p>
          <a:p>
            <a:pPr indent="-291465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b="1" lang="en-GB"/>
              <a:t>CMSIS-NN:</a:t>
            </a:r>
            <a:r>
              <a:rPr lang="en-GB"/>
              <a:t> Collection of neural network kernels for machine learning</a:t>
            </a:r>
            <a:endParaRPr/>
          </a:p>
          <a:p>
            <a:pPr indent="-291465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b="1" lang="en-GB"/>
              <a:t>CMSIS-DSP:</a:t>
            </a:r>
            <a:r>
              <a:rPr lang="en-GB"/>
              <a:t> A rich collection of optimized DSPs for compute</a:t>
            </a:r>
            <a:endParaRPr/>
          </a:p>
          <a:p>
            <a:pPr indent="-291465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b="1" lang="en-GB"/>
              <a:t>CMSIS-Driver:</a:t>
            </a:r>
            <a:r>
              <a:rPr lang="en-GB"/>
              <a:t> Generic driver interfaces for peripherals often found in embedded systems</a:t>
            </a:r>
            <a:endParaRPr/>
          </a:p>
          <a:p>
            <a:pPr indent="-291465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b="1" lang="en-GB"/>
              <a:t>CMSIS-SVD:</a:t>
            </a:r>
            <a:r>
              <a:rPr lang="en-GB"/>
              <a:t> Enables detailed views of device peripherals with current register state</a:t>
            </a:r>
            <a:endParaRPr/>
          </a:p>
          <a:p>
            <a:pPr indent="-291465" lvl="0" marL="457200" rtl="0" algn="l">
              <a:spcBef>
                <a:spcPts val="1000"/>
              </a:spcBef>
              <a:spcAft>
                <a:spcPts val="1000"/>
              </a:spcAft>
              <a:buSzPct val="100000"/>
              <a:buChar char="●"/>
            </a:pPr>
            <a:r>
              <a:rPr b="1" lang="en-GB"/>
              <a:t>CMSIS-DAP:</a:t>
            </a:r>
            <a:r>
              <a:rPr lang="en-GB"/>
              <a:t> Standardized interface to the CoreSight </a:t>
            </a:r>
            <a:r>
              <a:rPr lang="en-GB"/>
              <a:t>Debug Access Port</a:t>
            </a:r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5800" y="1170125"/>
            <a:ext cx="4825801" cy="243321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/>
          <p:nvPr/>
        </p:nvSpPr>
        <p:spPr>
          <a:xfrm>
            <a:off x="4289625" y="4188575"/>
            <a:ext cx="4617900" cy="530400"/>
          </a:xfrm>
          <a:prstGeom prst="wedgeRectCallout">
            <a:avLst>
              <a:gd fmla="val 45736" name="adj1"/>
              <a:gd fmla="val -192892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lt1"/>
                </a:solidFill>
              </a:rPr>
              <a:t>Image taken from:</a:t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</a:rPr>
              <a:t>https://arm-software.github.io/CMSIS_6/latest/General/index.html#validation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CMSIS-RTOS2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CMSIS RTOS2 is the standard real-time operating system API within the CMSIS ecosystem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Enables application code to be: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Independent of any RTOS implementation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Portable across devices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Easier to maintain and reuse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Key features: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Thread management	(create and manage threads)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Synchronisation		(mutexes, semaphores, events)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Communication		(message queues, shared memory)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Timing			(delays and sleep, software timers)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RTX5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RTX5 is the reference RTOS implementation for CMSIS-RTOS2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Small footprint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Deterministic kernel (important for </a:t>
            </a:r>
            <a:r>
              <a:rPr lang="en-GB"/>
              <a:t>real time</a:t>
            </a:r>
            <a:r>
              <a:rPr lang="en-GB"/>
              <a:t> characteristics!)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Optimised for Cortex-M microcontrollers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Fully integrated into the CMSIS ecosystem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CMSIS-Driver</a:t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Defines a standard peripheral driver interface for embedded systems.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GPIO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UART/USART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I2C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Ethernet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USB Device/Host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NAND storage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Wi-Fi</a:t>
            </a:r>
            <a:endParaRPr/>
          </a:p>
        </p:txBody>
      </p:sp>
      <p:sp>
        <p:nvSpPr>
          <p:cNvPr id="122" name="Google Shape;122;p22"/>
          <p:cNvSpPr/>
          <p:nvPr/>
        </p:nvSpPr>
        <p:spPr>
          <a:xfrm>
            <a:off x="5662300" y="1761825"/>
            <a:ext cx="2864100" cy="1371000"/>
          </a:xfrm>
          <a:prstGeom prst="roundRect">
            <a:avLst>
              <a:gd fmla="val 952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Each driver typically provides: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Initialisation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Data transfer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Event handling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Capability discovery</a:t>
            </a:r>
            <a:endParaRPr/>
          </a:p>
        </p:txBody>
      </p:sp>
      <p:sp>
        <p:nvSpPr>
          <p:cNvPr id="123" name="Google Shape;123;p22"/>
          <p:cNvSpPr/>
          <p:nvPr/>
        </p:nvSpPr>
        <p:spPr>
          <a:xfrm>
            <a:off x="4671700" y="3666825"/>
            <a:ext cx="3590400" cy="910200"/>
          </a:xfrm>
          <a:prstGeom prst="roundRect">
            <a:avLst>
              <a:gd fmla="val 952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Middleware, such as TCP/IP stacks, USB stacks, file systems, etc, can be written once, and reused across platforms.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CMSIS-DAP</a:t>
            </a:r>
            <a:endParaRPr/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311700" y="1152475"/>
            <a:ext cx="7838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Interface firmware for the debug unit that connects the debug port to USB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Debugger can connect via USB</a:t>
            </a:r>
            <a:br>
              <a:rPr lang="en-GB"/>
            </a:br>
            <a:r>
              <a:rPr lang="en-GB"/>
              <a:t>to debug unit and device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Debug unit connected to target</a:t>
            </a:r>
            <a:br>
              <a:rPr lang="en-GB"/>
            </a:br>
            <a:r>
              <a:rPr lang="en-GB"/>
              <a:t>via JTAG/SWD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CoreSight Debug and Trace Unit</a:t>
            </a:r>
            <a:br>
              <a:rPr lang="en-GB"/>
            </a:br>
            <a:r>
              <a:rPr lang="en-GB"/>
              <a:t>on CPU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Multi-core debugging</a:t>
            </a:r>
            <a:endParaRPr/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4675" y="1770675"/>
            <a:ext cx="4537625" cy="181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VS Code</a:t>
            </a:r>
            <a:endParaRPr/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311700" y="1152475"/>
            <a:ext cx="6096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Visual Studio Code is a lightweight, extensible, cross-platform development environment widely used for embedded, cloud, and desktop software development.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It’s a single environment for: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Editing, building, debugging, device configuration, and access to documentation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It enables integration of: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Toolchains, debug probes, build systems, and CMSIS workflows</a:t>
            </a:r>
            <a:endParaRPr/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8400" y="1381125"/>
            <a:ext cx="2381250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Keil Extensions for VS Code</a:t>
            </a:r>
            <a:endParaRPr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311700" y="1152475"/>
            <a:ext cx="7036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Keil Studio extensions transform VS Code into</a:t>
            </a:r>
            <a:br>
              <a:rPr lang="en-GB"/>
            </a:br>
            <a:r>
              <a:rPr lang="en-GB"/>
              <a:t>a CMSIS-aware embedded development</a:t>
            </a:r>
            <a:br>
              <a:rPr lang="en-GB"/>
            </a:br>
            <a:r>
              <a:rPr lang="en-GB"/>
              <a:t>environment for Arm-based microcontrollers.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Native support for the whole CMSIS workflow</a:t>
            </a:r>
            <a:endParaRPr/>
          </a:p>
          <a:p>
            <a:pPr indent="-325755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Device and board awareness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Discovery, board support files, peripheral and startup configuration</a:t>
            </a:r>
            <a:endParaRPr/>
          </a:p>
          <a:p>
            <a:pPr indent="-325755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Project management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Creation and management of CMSIS solutions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Toolchain configuration</a:t>
            </a:r>
            <a:endParaRPr/>
          </a:p>
          <a:p>
            <a:pPr indent="-325755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Debug and Run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Integration with supported debug probes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Flash programming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Rapid prototyping!</a:t>
            </a:r>
            <a:endParaRPr/>
          </a:p>
        </p:txBody>
      </p:sp>
      <p:pic>
        <p:nvPicPr>
          <p:cNvPr id="144" name="Google Shape;1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4500" y="212577"/>
            <a:ext cx="4019749" cy="217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CMSIS Solution</a:t>
            </a:r>
            <a:endParaRPr/>
          </a:p>
        </p:txBody>
      </p:sp>
      <p:sp>
        <p:nvSpPr>
          <p:cNvPr id="150" name="Google Shape;150;p26"/>
          <p:cNvSpPr/>
          <p:nvPr/>
        </p:nvSpPr>
        <p:spPr>
          <a:xfrm>
            <a:off x="2989050" y="1017725"/>
            <a:ext cx="3165900" cy="49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CMSIS Solution (*.csolution.yml)</a:t>
            </a:r>
            <a:endParaRPr/>
          </a:p>
        </p:txBody>
      </p:sp>
      <p:sp>
        <p:nvSpPr>
          <p:cNvPr id="151" name="Google Shape;151;p26"/>
          <p:cNvSpPr/>
          <p:nvPr/>
        </p:nvSpPr>
        <p:spPr>
          <a:xfrm>
            <a:off x="1028988" y="1850200"/>
            <a:ext cx="3165900" cy="49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(*.cproject.yml)</a:t>
            </a:r>
            <a:endParaRPr/>
          </a:p>
        </p:txBody>
      </p:sp>
      <p:sp>
        <p:nvSpPr>
          <p:cNvPr id="152" name="Google Shape;152;p26"/>
          <p:cNvSpPr/>
          <p:nvPr/>
        </p:nvSpPr>
        <p:spPr>
          <a:xfrm>
            <a:off x="4949113" y="1850200"/>
            <a:ext cx="3165900" cy="49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(*.cproject.yml)</a:t>
            </a:r>
            <a:endParaRPr/>
          </a:p>
        </p:txBody>
      </p:sp>
      <p:cxnSp>
        <p:nvCxnSpPr>
          <p:cNvPr id="153" name="Google Shape;153;p26"/>
          <p:cNvCxnSpPr>
            <a:stCxn id="150" idx="2"/>
            <a:endCxn id="151" idx="0"/>
          </p:cNvCxnSpPr>
          <p:nvPr/>
        </p:nvCxnSpPr>
        <p:spPr>
          <a:xfrm rot="5400000">
            <a:off x="3421950" y="700175"/>
            <a:ext cx="339900" cy="19602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26"/>
          <p:cNvCxnSpPr>
            <a:stCxn id="150" idx="2"/>
            <a:endCxn id="152" idx="0"/>
          </p:cNvCxnSpPr>
          <p:nvPr/>
        </p:nvCxnSpPr>
        <p:spPr>
          <a:xfrm flipH="1" rot="-5400000">
            <a:off x="5382150" y="700175"/>
            <a:ext cx="339900" cy="19602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26"/>
          <p:cNvSpPr/>
          <p:nvPr/>
        </p:nvSpPr>
        <p:spPr>
          <a:xfrm>
            <a:off x="1029000" y="2624083"/>
            <a:ext cx="3165900" cy="60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Software Layers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Configuration</a:t>
            </a:r>
            <a:endParaRPr/>
          </a:p>
        </p:txBody>
      </p:sp>
      <p:sp>
        <p:nvSpPr>
          <p:cNvPr id="156" name="Google Shape;156;p26"/>
          <p:cNvSpPr/>
          <p:nvPr/>
        </p:nvSpPr>
        <p:spPr>
          <a:xfrm>
            <a:off x="1029000" y="3513450"/>
            <a:ext cx="3165900" cy="60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CMSIS Software Packs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(Device + Middleware)</a:t>
            </a:r>
            <a:endParaRPr/>
          </a:p>
        </p:txBody>
      </p:sp>
      <p:sp>
        <p:nvSpPr>
          <p:cNvPr id="157" name="Google Shape;157;p26"/>
          <p:cNvSpPr/>
          <p:nvPr/>
        </p:nvSpPr>
        <p:spPr>
          <a:xfrm>
            <a:off x="1029000" y="4402825"/>
            <a:ext cx="3165900" cy="60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Toolchain &amp; Build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(Compiler + Linker)</a:t>
            </a:r>
            <a:endParaRPr/>
          </a:p>
        </p:txBody>
      </p:sp>
      <p:sp>
        <p:nvSpPr>
          <p:cNvPr id="158" name="Google Shape;158;p26"/>
          <p:cNvSpPr/>
          <p:nvPr/>
        </p:nvSpPr>
        <p:spPr>
          <a:xfrm>
            <a:off x="4949125" y="2624083"/>
            <a:ext cx="3165900" cy="60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Application Code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Middleware</a:t>
            </a:r>
            <a:endParaRPr/>
          </a:p>
        </p:txBody>
      </p:sp>
      <p:cxnSp>
        <p:nvCxnSpPr>
          <p:cNvPr id="159" name="Google Shape;159;p26"/>
          <p:cNvCxnSpPr>
            <a:stCxn id="151" idx="2"/>
            <a:endCxn id="155" idx="0"/>
          </p:cNvCxnSpPr>
          <p:nvPr/>
        </p:nvCxnSpPr>
        <p:spPr>
          <a:xfrm>
            <a:off x="2611938" y="2342800"/>
            <a:ext cx="0" cy="28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26"/>
          <p:cNvCxnSpPr>
            <a:stCxn id="155" idx="2"/>
            <a:endCxn id="156" idx="0"/>
          </p:cNvCxnSpPr>
          <p:nvPr/>
        </p:nvCxnSpPr>
        <p:spPr>
          <a:xfrm>
            <a:off x="2611950" y="3232183"/>
            <a:ext cx="0" cy="28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26"/>
          <p:cNvCxnSpPr>
            <a:stCxn id="156" idx="2"/>
            <a:endCxn id="157" idx="0"/>
          </p:cNvCxnSpPr>
          <p:nvPr/>
        </p:nvCxnSpPr>
        <p:spPr>
          <a:xfrm>
            <a:off x="2611950" y="4121550"/>
            <a:ext cx="0" cy="28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26"/>
          <p:cNvCxnSpPr>
            <a:stCxn id="152" idx="2"/>
            <a:endCxn id="158" idx="0"/>
          </p:cNvCxnSpPr>
          <p:nvPr/>
        </p:nvCxnSpPr>
        <p:spPr>
          <a:xfrm>
            <a:off x="6532063" y="2342800"/>
            <a:ext cx="0" cy="28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CMSIS Packs</a:t>
            </a:r>
            <a:endParaRPr/>
          </a:p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CMSIS Packages provide reusable software and metadata: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Device support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Startup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Peripheral definitions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Drivers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Middleware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Example projects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Documentation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CMSIS Enabled Platforms</a:t>
            </a:r>
            <a:endParaRPr/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platform powered by a Cortex-M or entry-level Cortex-A processor!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STMicroelectronics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STM32L4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NCP Semiconductors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Microchip SAM family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Nordic Semiconductor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Silicon Labs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Texas Instruments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… and more!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High-level vs. low-level programming</a:t>
            </a:r>
            <a:endParaRPr/>
          </a:p>
        </p:txBody>
      </p:sp>
      <p:sp>
        <p:nvSpPr>
          <p:cNvPr id="180" name="Google Shape;180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High-level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Advantages:</a:t>
            </a:r>
            <a:endParaRPr b="1"/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Higher productivity (less development time/effort)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Portability across devices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Code is easier to read and maintain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Allows code reuse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Rapid prototyping of applications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Disadvantages:</a:t>
            </a:r>
            <a:endParaRPr b="1"/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Potentially less optimized code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Additional translation time from source code to machine code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Level of abstraction may not provide all functionality</a:t>
            </a:r>
            <a:endParaRPr/>
          </a:p>
        </p:txBody>
      </p:sp>
      <p:sp>
        <p:nvSpPr>
          <p:cNvPr id="181" name="Google Shape;181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Low-level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Advantages:</a:t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More optimized code and higher memory efficiency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Less translation time from source code to machine code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Direct interaction with hardware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Disadvantages:</a:t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Less portability from one device to another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Code is more difficult to read, reuse, and maintain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Low productivity/greater effort required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High-level vs. low-level programming</a:t>
            </a:r>
            <a:endParaRPr/>
          </a:p>
        </p:txBody>
      </p:sp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311700" y="1152475"/>
            <a:ext cx="85206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Low-level: </a:t>
            </a:r>
            <a:r>
              <a:rPr b="1" lang="en-GB"/>
              <a:t>Blinking an LED by manipulating MCU registers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A GPIO peripheral can be directly accessed by reading/writing specific memory addresses.</a:t>
            </a:r>
            <a:endParaRPr/>
          </a:p>
        </p:txBody>
      </p:sp>
      <p:sp>
        <p:nvSpPr>
          <p:cNvPr id="188" name="Google Shape;188;p30"/>
          <p:cNvSpPr txBox="1"/>
          <p:nvPr/>
        </p:nvSpPr>
        <p:spPr>
          <a:xfrm>
            <a:off x="311700" y="2706525"/>
            <a:ext cx="6911100" cy="2031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int</a:t>
            </a:r>
            <a:r>
              <a:rPr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app_main(</a:t>
            </a:r>
            <a:r>
              <a:rPr b="1"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void</a:t>
            </a:r>
            <a:r>
              <a:rPr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 {</a:t>
            </a:r>
            <a:endParaRPr sz="10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</a:t>
            </a:r>
            <a:r>
              <a:rPr b="1"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uint32_t</a:t>
            </a:r>
            <a:r>
              <a:rPr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*GPIO_B_ODR = (</a:t>
            </a:r>
            <a:r>
              <a:rPr b="1"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uint32_t</a:t>
            </a:r>
            <a:r>
              <a:rPr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*)(0x48000414); </a:t>
            </a:r>
            <a:r>
              <a:rPr lang="en-GB" sz="1000">
                <a:solidFill>
                  <a:schemeClr val="accent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GPIO Port B Output Data Register</a:t>
            </a:r>
            <a:endParaRPr sz="1000">
              <a:solidFill>
                <a:schemeClr val="accent5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</a:t>
            </a:r>
            <a:r>
              <a:rPr b="1"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for</a:t>
            </a:r>
            <a:r>
              <a:rPr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(;;) {</a:t>
            </a:r>
            <a:endParaRPr sz="10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*GPIO_B_ODR &amp;= ~(1 &lt;&lt; 14);		</a:t>
            </a:r>
            <a:r>
              <a:rPr lang="en-GB" sz="1000">
                <a:solidFill>
                  <a:schemeClr val="accent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Clear PB14</a:t>
            </a:r>
            <a:endParaRPr sz="1000">
              <a:solidFill>
                <a:schemeClr val="accent5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wait(1000);				</a:t>
            </a:r>
            <a:r>
              <a:rPr lang="en-GB" sz="1000">
                <a:solidFill>
                  <a:schemeClr val="accent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Wait 1s</a:t>
            </a:r>
            <a:endParaRPr sz="1000">
              <a:solidFill>
                <a:schemeClr val="accent5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*GPIO_B_ODR |= (1 &lt;&lt; 14);		</a:t>
            </a:r>
            <a:r>
              <a:rPr lang="en-GB" sz="1000">
                <a:solidFill>
                  <a:schemeClr val="accent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Set PB14</a:t>
            </a:r>
            <a:endParaRPr sz="1000">
              <a:solidFill>
                <a:schemeClr val="accent5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wait(1000);				</a:t>
            </a:r>
            <a:r>
              <a:rPr lang="en-GB" sz="1000">
                <a:solidFill>
                  <a:schemeClr val="accent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Wait 1s</a:t>
            </a:r>
            <a:endParaRPr sz="1000">
              <a:solidFill>
                <a:schemeClr val="accent5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}</a:t>
            </a:r>
            <a:endParaRPr sz="10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</a:t>
            </a:r>
            <a:r>
              <a:rPr b="1"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return</a:t>
            </a:r>
            <a:r>
              <a:rPr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0;</a:t>
            </a:r>
            <a:endParaRPr sz="10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10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High-level vs. low-level programming</a:t>
            </a:r>
            <a:endParaRPr/>
          </a:p>
        </p:txBody>
      </p:sp>
      <p:sp>
        <p:nvSpPr>
          <p:cNvPr id="194" name="Google Shape;194;p31"/>
          <p:cNvSpPr txBox="1"/>
          <p:nvPr>
            <p:ph idx="1" type="body"/>
          </p:nvPr>
        </p:nvSpPr>
        <p:spPr>
          <a:xfrm>
            <a:off x="311700" y="1152475"/>
            <a:ext cx="85206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High-level: </a:t>
            </a:r>
            <a:r>
              <a:rPr b="1" lang="en-GB"/>
              <a:t>Blinking an LED with the CMSIS API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A GPIO peripheral can be controlled with CMSIS function calls</a:t>
            </a:r>
            <a:endParaRPr/>
          </a:p>
        </p:txBody>
      </p:sp>
      <p:sp>
        <p:nvSpPr>
          <p:cNvPr id="195" name="Google Shape;195;p31"/>
          <p:cNvSpPr txBox="1"/>
          <p:nvPr/>
        </p:nvSpPr>
        <p:spPr>
          <a:xfrm>
            <a:off x="311700" y="2470800"/>
            <a:ext cx="5082000" cy="1416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void</a:t>
            </a:r>
            <a:r>
              <a:rPr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app_main_thread(</a:t>
            </a:r>
            <a:r>
              <a:rPr b="1"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void</a:t>
            </a:r>
            <a:r>
              <a:rPr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*argument) {</a:t>
            </a:r>
            <a:endParaRPr sz="10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</a:t>
            </a:r>
            <a:r>
              <a:rPr b="1"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for</a:t>
            </a:r>
            <a:r>
              <a:rPr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(;;) {</a:t>
            </a:r>
            <a:endParaRPr sz="10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vioSetSignal(vioLED0, vioLEDoff);	</a:t>
            </a:r>
            <a:r>
              <a:rPr lang="en-GB" sz="1000">
                <a:solidFill>
                  <a:schemeClr val="accent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Turn the LED off</a:t>
            </a:r>
            <a:endParaRPr sz="1000">
              <a:solidFill>
                <a:schemeClr val="accent5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osDelay(1000);					</a:t>
            </a:r>
            <a:r>
              <a:rPr lang="en-GB" sz="1000">
                <a:solidFill>
                  <a:schemeClr val="accent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Wait 1s</a:t>
            </a:r>
            <a:endParaRPr sz="1000">
              <a:solidFill>
                <a:schemeClr val="accent5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vioSetSignal(vioLED0, vioLEDon);		</a:t>
            </a:r>
            <a:r>
              <a:rPr lang="en-GB" sz="1000">
                <a:solidFill>
                  <a:schemeClr val="accent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Turn the LED on</a:t>
            </a:r>
            <a:endParaRPr sz="1000">
              <a:solidFill>
                <a:schemeClr val="accent5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osDelay(1000);					</a:t>
            </a:r>
            <a:r>
              <a:rPr lang="en-GB" sz="1000">
                <a:solidFill>
                  <a:schemeClr val="accent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Wait 1s</a:t>
            </a:r>
            <a:endParaRPr sz="1000">
              <a:solidFill>
                <a:schemeClr val="accent5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}</a:t>
            </a:r>
            <a:endParaRPr sz="10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10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